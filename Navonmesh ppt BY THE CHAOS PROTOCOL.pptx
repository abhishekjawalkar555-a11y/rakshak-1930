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lack" panose="020B0A04020102020204" pitchFamily="34" charset="0"/>
      <p:regular r:id="rId10"/>
      <p:bold r:id="rId11"/>
    </p:embeddedFont>
    <p:embeddedFont>
      <p:font typeface="Inter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NNkGlwhwKQmMhrnR3PhQarx4Y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sg.ca/understanding-the-roi-of-health-and-safety/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t="19814" b="25614"/>
          <a:stretch/>
        </p:blipFill>
        <p:spPr>
          <a:xfrm>
            <a:off x="3048000" y="2690967"/>
            <a:ext cx="12192000" cy="44337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2176224" y="542924"/>
            <a:ext cx="13935551" cy="1076325"/>
            <a:chOff x="2453005" y="542924"/>
            <a:chExt cx="13935551" cy="1076325"/>
          </a:xfrm>
        </p:grpSpPr>
        <p:pic>
          <p:nvPicPr>
            <p:cNvPr id="90" name="Google Shape;9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53005" y="542924"/>
              <a:ext cx="1189990" cy="1076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281433" y="542925"/>
              <a:ext cx="1107123" cy="10763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"/>
          <p:cNvSpPr txBox="1"/>
          <p:nvPr/>
        </p:nvSpPr>
        <p:spPr>
          <a:xfrm>
            <a:off x="7013733" y="312091"/>
            <a:ext cx="4343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Maharashtra Education Society’s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933700" y="495300"/>
            <a:ext cx="12420600" cy="82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 of Management and Career Courses (IMCC), Pune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078480" y="1856636"/>
            <a:ext cx="12420600" cy="834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 Black"/>
              <a:buNone/>
            </a:pPr>
            <a:r>
              <a:rPr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Presents</a:t>
            </a:r>
            <a:endParaRPr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366214" y="7423025"/>
            <a:ext cx="742370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Name :The CHAOS PRTOCOL </a:t>
            </a: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3359466" y="8280110"/>
            <a:ext cx="1113377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Lead Name:  Pranjal </a:t>
            </a:r>
            <a:r>
              <a:rPr lang="en-US" sz="40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Suryawanshi</a:t>
            </a:r>
            <a:r>
              <a:rPr lang="en-US" sz="4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7099719" y="6648409"/>
            <a:ext cx="43781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Where Ideas Become Reality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366214" y="9137350"/>
            <a:ext cx="891722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Selected Domain :FINANCIAL SAFETY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6515100" y="342900"/>
            <a:ext cx="5257800" cy="71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4914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0" y="9791700"/>
            <a:ext cx="18288000" cy="4953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@Navonmesh 2026 Template - Institute of Management and Career Courses (IMCC), Pune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6535400" y="46313"/>
            <a:ext cx="1605739" cy="12871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l="23125" t="21864" r="34772" b="28428"/>
          <a:stretch/>
        </p:blipFill>
        <p:spPr>
          <a:xfrm>
            <a:off x="16611600" y="92949"/>
            <a:ext cx="14478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/>
          <p:nvPr/>
        </p:nvSpPr>
        <p:spPr>
          <a:xfrm>
            <a:off x="533400" y="270806"/>
            <a:ext cx="1981200" cy="838200"/>
          </a:xfrm>
          <a:prstGeom prst="ellipse">
            <a:avLst/>
          </a:prstGeom>
          <a:noFill/>
          <a:ln w="254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THE CHAOS PROTOCOL</a:t>
            </a:r>
            <a:endParaRPr dirty="0"/>
          </a:p>
        </p:txBody>
      </p:sp>
      <p:sp>
        <p:nvSpPr>
          <p:cNvPr id="108" name="Google Shape;108;p2"/>
          <p:cNvSpPr txBox="1"/>
          <p:nvPr/>
        </p:nvSpPr>
        <p:spPr>
          <a:xfrm>
            <a:off x="1221398" y="2933700"/>
            <a:ext cx="13028002" cy="907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Core Problem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Rural and elderly users are losing life savings to social engineering (fake KYC/Refund calls) because current security alerts are passive and text-heavy.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Target Demographic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1. Non-tech-savvy elderly users. 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                                          2. Rural populations with low digital literacy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Gap in Existing Solutions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Current UPI apps only show English/Hindi text warnings that users "skip" or "dismiss" under pressure from scammers. 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Urgency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Scam success rates are high during "Screen Sharing" (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AnyDesk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/TeamViewer), where users are manipulated into entering UPI PINs.</a:t>
            </a:r>
          </a:p>
          <a:p>
            <a:pPr lvl="0">
              <a:buClr>
                <a:schemeClr val="lt1"/>
              </a:buClr>
              <a:buSzPts val="3200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buClr>
                <a:schemeClr val="lt1"/>
              </a:buClr>
              <a:buSzPts val="3200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buClr>
                <a:schemeClr val="lt1"/>
              </a:buClr>
              <a:buSzPts val="3200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buClr>
                <a:schemeClr val="lt1"/>
              </a:buClr>
              <a:buSzPts val="3200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buClr>
                <a:schemeClr val="lt1"/>
              </a:buClr>
              <a:buSzPts val="3200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buClr>
                <a:schemeClr val="lt1"/>
              </a:buClr>
              <a:buSzPts val="3200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buClr>
                <a:schemeClr val="lt1"/>
              </a:buClr>
              <a:buSzPts val="3200"/>
            </a:pPr>
            <a:endParaRPr sz="3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6515100" y="342900"/>
            <a:ext cx="5257800" cy="71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14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0" y="9791700"/>
            <a:ext cx="18288000" cy="4953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@Navonmesh 2026 Template - Institute of Management and Career Courses (IMCC), Pune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6535400" y="46313"/>
            <a:ext cx="1605739" cy="12871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l="23125" t="21864" r="34772" b="28428"/>
          <a:stretch/>
        </p:blipFill>
        <p:spPr>
          <a:xfrm>
            <a:off x="16611600" y="92949"/>
            <a:ext cx="14478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533400" y="270806"/>
            <a:ext cx="1981200" cy="838200"/>
          </a:xfrm>
          <a:prstGeom prst="ellipse">
            <a:avLst/>
          </a:prstGeom>
          <a:noFill/>
          <a:ln w="254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CHAOS PROTOCOL</a:t>
            </a:r>
            <a:endParaRPr dirty="0"/>
          </a:p>
        </p:txBody>
      </p:sp>
      <p:sp>
        <p:nvSpPr>
          <p:cNvPr id="118" name="Google Shape;118;p3"/>
          <p:cNvSpPr txBox="1"/>
          <p:nvPr/>
        </p:nvSpPr>
        <p:spPr>
          <a:xfrm>
            <a:off x="878498" y="2247900"/>
            <a:ext cx="11885002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"Active Guardian": 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background Android Accessibility Service that acts as a proactive digital bodyguard.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Context-Aware Intervention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It doesn’t just warn; it intervenes by </a:t>
            </a: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detecting:Active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remote-access apps during a </a:t>
            </a: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transaction.High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-risk keywords (KYC, Refund, Block) in ongoing calls.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Interactive Voice Challenge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Automatically locks the payment UI and starts a voice-bot dialogue in the user's native language.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Informed Consent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user must verbally confirm: "I am not 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 a call with a stranger" to unlock the screen.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053BD4-2BA7-1436-726B-ADD08DE06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9160" y="5486400"/>
            <a:ext cx="5958840" cy="42839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4953000" y="390861"/>
            <a:ext cx="8115300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14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0" y="9791700"/>
            <a:ext cx="18288000" cy="4953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@Navonmesh 2026 Template - Institute of Management and Career Courses (IMCC), Pune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6535400" y="46313"/>
            <a:ext cx="1605739" cy="12871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 l="23125" t="21864" r="34772" b="28428"/>
          <a:stretch/>
        </p:blipFill>
        <p:spPr>
          <a:xfrm>
            <a:off x="16611600" y="92949"/>
            <a:ext cx="14478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533400" y="270806"/>
            <a:ext cx="1981200" cy="838200"/>
          </a:xfrm>
          <a:prstGeom prst="ellipse">
            <a:avLst/>
          </a:prstGeom>
          <a:noFill/>
          <a:ln w="254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CHAOS PROTOCOL</a:t>
            </a:r>
            <a:endParaRPr dirty="0"/>
          </a:p>
        </p:txBody>
      </p:sp>
      <p:sp>
        <p:nvSpPr>
          <p:cNvPr id="129" name="Google Shape;129;p4"/>
          <p:cNvSpPr txBox="1"/>
          <p:nvPr/>
        </p:nvSpPr>
        <p:spPr>
          <a:xfrm>
            <a:off x="533400" y="1851660"/>
            <a:ext cx="10576560" cy="612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Tech Stack: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Language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Kotlin/Java (Android Accessibility Service API).NLP: On-device keyword spotting (TensorFlow Lite).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Voice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Google Text-to-Speech (TTS) &amp; Speech-to-Text (STT) for native languages.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Methodology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Layer 1: Monitor Accessibility Events to detect UPI app launch (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Gpay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 /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PhonePe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).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Layer 2: Trigger context-check for is Screen Sharing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 flag and call log keywords.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Layer 3: If risk detected, inject a System Alert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Window.</a:t>
            </a:r>
            <a:r>
              <a:rPr lang="en-US" dirty="0" err="1"/>
              <a:t>verlay</a:t>
            </a:r>
            <a:r>
              <a:rPr lang="en-US" dirty="0"/>
              <a:t> to block user input.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32FE7F-AE1C-CD7A-E846-844B52786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1304925"/>
            <a:ext cx="6949440" cy="8515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4305300" y="390861"/>
            <a:ext cx="9677400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14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0" y="9791700"/>
            <a:ext cx="18288000" cy="4953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@Navonmesh 2026 Template - Institute of Management and Career Courses (IMCC), Pune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6535400" y="46313"/>
            <a:ext cx="1605739" cy="12871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3">
            <a:alphaModFix/>
          </a:blip>
          <a:srcRect l="23125" t="21864" r="34772" b="28428"/>
          <a:stretch/>
        </p:blipFill>
        <p:spPr>
          <a:xfrm>
            <a:off x="16611600" y="92949"/>
            <a:ext cx="14478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533400" y="270806"/>
            <a:ext cx="1981200" cy="838200"/>
          </a:xfrm>
          <a:prstGeom prst="ellipse">
            <a:avLst/>
          </a:prstGeom>
          <a:noFill/>
          <a:ln w="254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CHAOS PROTOCOL</a:t>
            </a:r>
            <a:endParaRPr dirty="0"/>
          </a:p>
        </p:txBody>
      </p:sp>
      <p:sp>
        <p:nvSpPr>
          <p:cNvPr id="139" name="Google Shape;139;p5"/>
          <p:cNvSpPr txBox="1"/>
          <p:nvPr/>
        </p:nvSpPr>
        <p:spPr>
          <a:xfrm>
            <a:off x="1282358" y="3095863"/>
            <a:ext cx="10970602" cy="498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Uses standard Android APIs. Can be integrated as a standalone "Security App" or a library for banking apps.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Challenges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Battery drain from background monitoring.</a:t>
            </a:r>
          </a:p>
          <a:p>
            <a:pPr lvl="0">
              <a:buClr>
                <a:schemeClr val="lt1"/>
              </a:buClr>
              <a:buSzPts val="3200"/>
            </a:pP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False positives during legitimate support calls.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Strategies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* Trigger-Based Activation: The service only "wakes up" high-intensity scanning when a payment app enters the foreground.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Privacy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All voice processing happens on-device; no data leaves the phone.</a:t>
            </a:r>
            <a:endParaRPr lang="en-US" sz="3200" dirty="0">
              <a:solidFill>
                <a:schemeClr val="lt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</a:pPr>
            <a:r>
              <a:rPr lang="en-US" dirty="0"/>
              <a:t>Q1`	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4305300" y="390861"/>
            <a:ext cx="9677400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14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0" y="9791700"/>
            <a:ext cx="18288000" cy="4953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@Navonmesh 2026 Template - Institute of Management and Career Courses (IMCC), Pune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6535400" y="46313"/>
            <a:ext cx="1605739" cy="12871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 rotWithShape="1">
          <a:blip r:embed="rId3">
            <a:alphaModFix/>
          </a:blip>
          <a:srcRect l="23125" t="21864" r="34772" b="28428"/>
          <a:stretch/>
        </p:blipFill>
        <p:spPr>
          <a:xfrm>
            <a:off x="16611600" y="92949"/>
            <a:ext cx="14478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533400" y="270806"/>
            <a:ext cx="1981200" cy="838200"/>
          </a:xfrm>
          <a:prstGeom prst="ellipse">
            <a:avLst/>
          </a:prstGeom>
          <a:noFill/>
          <a:ln w="254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CHAOS PROTOCOL</a:t>
            </a:r>
            <a:endParaRPr dirty="0"/>
          </a:p>
        </p:txBody>
      </p:sp>
      <p:sp>
        <p:nvSpPr>
          <p:cNvPr id="149" name="Google Shape;149;p6"/>
          <p:cNvSpPr txBox="1"/>
          <p:nvPr/>
        </p:nvSpPr>
        <p:spPr>
          <a:xfrm>
            <a:off x="855638" y="2263140"/>
            <a:ext cx="11138242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Target Audience Impact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Moves the burden of security from the user’s knowledge to the system’s intelligence.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Social Benefit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Financial inclusion and safety for the "Bottom of the Pyramid" (rural users).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Economic Benefit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Significant reduction in UPI fraud losses, which currently account for crores in annual theft.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Environmental Benefit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Paperless, 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digital-first </a:t>
            </a:r>
            <a:r>
              <a:rPr lang="en-US" dirty="0"/>
              <a:t>security education via audio interaction.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425D6A-CECC-7E8C-0724-3B79A8EAD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699737" y="5414988"/>
            <a:ext cx="8441402" cy="437671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/>
        </p:nvSpPr>
        <p:spPr>
          <a:xfrm>
            <a:off x="4305300" y="390861"/>
            <a:ext cx="9677400" cy="718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14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0" y="9791700"/>
            <a:ext cx="18288000" cy="495300"/>
          </a:xfrm>
          <a:prstGeom prst="rect">
            <a:avLst/>
          </a:prstGeom>
          <a:solidFill>
            <a:srgbClr val="17365D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@Navonmesh 2026 Template - Institute of Management and Career Courses (IMCC), Pune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6535400" y="46313"/>
            <a:ext cx="1605739" cy="12871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7"/>
          <p:cNvPicPr preferRelativeResize="0"/>
          <p:nvPr/>
        </p:nvPicPr>
        <p:blipFill rotWithShape="1">
          <a:blip r:embed="rId3">
            <a:alphaModFix/>
          </a:blip>
          <a:srcRect l="23125" t="21864" r="34772" b="28428"/>
          <a:stretch/>
        </p:blipFill>
        <p:spPr>
          <a:xfrm>
            <a:off x="16611600" y="92949"/>
            <a:ext cx="14478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533400" y="270806"/>
            <a:ext cx="1981200" cy="838200"/>
          </a:xfrm>
          <a:prstGeom prst="ellipse">
            <a:avLst/>
          </a:prstGeom>
          <a:noFill/>
          <a:ln w="254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CHAOS PROTOCOL</a:t>
            </a:r>
            <a:endParaRPr dirty="0"/>
          </a:p>
        </p:txBody>
      </p:sp>
      <p:sp>
        <p:nvSpPr>
          <p:cNvPr id="159" name="Google Shape;159;p7"/>
          <p:cNvSpPr txBox="1"/>
          <p:nvPr/>
        </p:nvSpPr>
        <p:spPr>
          <a:xfrm>
            <a:off x="3012098" y="2264886"/>
            <a:ext cx="10970602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Research Paper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"Social Engineering Attacks on UPI Users in India" - analyzed for keyword identification.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Documentation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Android Developer Guides for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AccessibilityService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 and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WindowOverlay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Data Source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National Cyber Crime Reporting Portal (NCRB) statistics on elderly financial abuse.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</a:rPr>
              <a:t>Technical Reference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: Google’s ML Kit for on-device Translation and NLP.</a:t>
            </a: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>
              <a:buClr>
                <a:schemeClr val="lt1"/>
              </a:buClr>
              <a:buSzPts val="3200"/>
              <a:buFont typeface="Arial"/>
              <a:buChar char="•"/>
            </a:pP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  <a:p>
            <a:pPr lvl="0" algn="ctr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 Thank you for your time.</a:t>
            </a:r>
          </a:p>
          <a:p>
            <a:pPr lvl="0" algn="ctr">
              <a:buClr>
                <a:schemeClr val="lt1"/>
              </a:buClr>
              <a:buSzPts val="3200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 Let's make UPI safer for everyone</a:t>
            </a:r>
            <a:endParaRPr sz="3600" b="1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Custom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Inter</vt:lpstr>
      <vt:lpstr>Calibri</vt:lpstr>
      <vt:lpstr>Arial</vt:lpstr>
      <vt:lpstr>Times New Roman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admin</cp:lastModifiedBy>
  <cp:revision>1</cp:revision>
  <dcterms:created xsi:type="dcterms:W3CDTF">2006-08-16T00:00:00Z</dcterms:created>
  <dcterms:modified xsi:type="dcterms:W3CDTF">2026-02-09T08:04:12Z</dcterms:modified>
</cp:coreProperties>
</file>